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Overlock"/>
      <p:regular r:id="rId28"/>
      <p:bold r:id="rId29"/>
      <p:italic r:id="rId30"/>
      <p:boldItalic r:id="rId31"/>
    </p:embeddedFont>
    <p:embeddedFont>
      <p:font typeface="Source Code Pro"/>
      <p:regular r:id="rId32"/>
      <p:bold r:id="rId33"/>
      <p:italic r:id="rId34"/>
      <p:boldItalic r:id="rId35"/>
    </p:embeddedFont>
    <p:embeddedFont>
      <p:font typeface="Gill Sans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verlock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verlo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verlock-boldItalic.fntdata"/><Relationship Id="rId30" Type="http://schemas.openxmlformats.org/officeDocument/2006/relationships/font" Target="fonts/Overlock-italic.fntdata"/><Relationship Id="rId11" Type="http://schemas.openxmlformats.org/officeDocument/2006/relationships/slide" Target="slides/slide5.xml"/><Relationship Id="rId33" Type="http://schemas.openxmlformats.org/officeDocument/2006/relationships/font" Target="fonts/SourceCodePro-bold.fntdata"/><Relationship Id="rId10" Type="http://schemas.openxmlformats.org/officeDocument/2006/relationships/slide" Target="slides/slide4.xml"/><Relationship Id="rId32" Type="http://schemas.openxmlformats.org/officeDocument/2006/relationships/font" Target="fonts/SourceCodePro-regular.fntdata"/><Relationship Id="rId13" Type="http://schemas.openxmlformats.org/officeDocument/2006/relationships/slide" Target="slides/slide7.xml"/><Relationship Id="rId35" Type="http://schemas.openxmlformats.org/officeDocument/2006/relationships/font" Target="fonts/SourceCodePro-boldItalic.fntdata"/><Relationship Id="rId12" Type="http://schemas.openxmlformats.org/officeDocument/2006/relationships/slide" Target="slides/slide6.xml"/><Relationship Id="rId34" Type="http://schemas.openxmlformats.org/officeDocument/2006/relationships/font" Target="fonts/SourceCodePro-italic.fntdata"/><Relationship Id="rId15" Type="http://schemas.openxmlformats.org/officeDocument/2006/relationships/slide" Target="slides/slide9.xml"/><Relationship Id="rId37" Type="http://schemas.openxmlformats.org/officeDocument/2006/relationships/font" Target="fonts/GillSans-bold.fntdata"/><Relationship Id="rId14" Type="http://schemas.openxmlformats.org/officeDocument/2006/relationships/slide" Target="slides/slide8.xml"/><Relationship Id="rId36" Type="http://schemas.openxmlformats.org/officeDocument/2006/relationships/font" Target="fonts/Gill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e091659e11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2e091659e1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091659e11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2e091659e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>
            <p:ph type="ctrTitle"/>
          </p:nvPr>
        </p:nvSpPr>
        <p:spPr>
          <a:xfrm>
            <a:off x="435894" y="765324"/>
            <a:ext cx="8245162" cy="11062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sz="27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435895" y="1871584"/>
            <a:ext cx="8245160" cy="44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 cap="none">
                <a:solidFill>
                  <a:schemeClr val="accent2"/>
                </a:solidFill>
              </a:defRPr>
            </a:lvl1pPr>
            <a:lvl2pPr lvl="1" algn="ctr">
              <a:spcBef>
                <a:spcPts val="45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50"/>
              </a:spcBef>
              <a:spcAft>
                <a:spcPts val="0"/>
              </a:spcAft>
              <a:buSzPts val="96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50"/>
              </a:spcBef>
              <a:spcAft>
                <a:spcPts val="450"/>
              </a:spcAft>
              <a:buSzPts val="828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5704463" y="446710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7918725" y="4467103"/>
            <a:ext cx="76233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35895" y="1635373"/>
            <a:ext cx="8272211" cy="2758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7918725" y="4467103"/>
            <a:ext cx="78938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435895" y="2282933"/>
            <a:ext cx="8272211" cy="1123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b="0" sz="27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35895" y="3406063"/>
            <a:ext cx="8272211" cy="450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242"/>
              <a:buNone/>
              <a:defRPr sz="135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242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104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966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435895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35895" y="1671003"/>
            <a:ext cx="4066793" cy="2724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1313" y="1671003"/>
            <a:ext cx="4066794" cy="2724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435895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65415" y="1688169"/>
            <a:ext cx="3815306" cy="4020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30"/>
              </a:spcBef>
              <a:spcAft>
                <a:spcPts val="0"/>
              </a:spcAft>
              <a:buSzPts val="1518"/>
              <a:buNone/>
              <a:defRPr b="0" sz="165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42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104"/>
              <a:buNone/>
              <a:defRPr b="1" sz="12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35896" y="2194540"/>
            <a:ext cx="4044825" cy="2201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4892802" y="1688169"/>
            <a:ext cx="3815305" cy="4150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30"/>
              </a:spcBef>
              <a:spcAft>
                <a:spcPts val="0"/>
              </a:spcAft>
              <a:buSzPts val="1518"/>
              <a:buNone/>
              <a:defRPr b="0" sz="165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42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104"/>
              <a:buNone/>
              <a:defRPr b="1" sz="12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4663282" y="2194540"/>
            <a:ext cx="4044825" cy="2201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435894" y="3946722"/>
            <a:ext cx="3682084" cy="51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1500"/>
              <a:buFont typeface="Gill Sans"/>
              <a:buNone/>
              <a:defRPr b="0" sz="1500"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335862" y="450900"/>
            <a:ext cx="8469630" cy="3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6230" lvl="0" marL="457200" algn="l">
              <a:spcBef>
                <a:spcPts val="300"/>
              </a:spcBef>
              <a:spcAft>
                <a:spcPts val="0"/>
              </a:spcAft>
              <a:buSzPts val="1380"/>
              <a:buChar char="◼"/>
              <a:defRPr sz="1500">
                <a:solidFill>
                  <a:schemeClr val="dk2"/>
                </a:solidFill>
              </a:defRPr>
            </a:lvl1pPr>
            <a:lvl2pPr indent="-307467" lvl="1" marL="914400" algn="l">
              <a:spcBef>
                <a:spcPts val="450"/>
              </a:spcBef>
              <a:spcAft>
                <a:spcPts val="0"/>
              </a:spcAft>
              <a:buSzPts val="1242"/>
              <a:buChar char="◼"/>
              <a:defRPr sz="1350">
                <a:solidFill>
                  <a:schemeClr val="dk2"/>
                </a:solidFill>
              </a:defRPr>
            </a:lvl2pPr>
            <a:lvl3pPr indent="-298703" lvl="2" marL="1371600" algn="l">
              <a:spcBef>
                <a:spcPts val="450"/>
              </a:spcBef>
              <a:spcAft>
                <a:spcPts val="0"/>
              </a:spcAft>
              <a:buSzPts val="1104"/>
              <a:buChar char="◼"/>
              <a:defRPr sz="1200">
                <a:solidFill>
                  <a:schemeClr val="dk2"/>
                </a:solidFill>
              </a:defRPr>
            </a:lvl3pPr>
            <a:lvl4pPr indent="-289941" lvl="3" marL="18288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4pPr>
            <a:lvl5pPr indent="-289941" lvl="4" marL="22860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5pPr>
            <a:lvl6pPr indent="-289941" lvl="5" marL="27432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6pPr>
            <a:lvl7pPr indent="-289941" lvl="6" marL="32004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7pPr>
            <a:lvl8pPr indent="-289940" lvl="7" marL="36576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8pPr>
            <a:lvl9pPr indent="-289940" lvl="8" marL="4114800" algn="l">
              <a:spcBef>
                <a:spcPts val="450"/>
              </a:spcBef>
              <a:spcAft>
                <a:spcPts val="45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4305618" y="3946723"/>
            <a:ext cx="4402490" cy="51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65"/>
              </a:spcBef>
              <a:spcAft>
                <a:spcPts val="0"/>
              </a:spcAft>
              <a:buSzPts val="759"/>
              <a:buNone/>
              <a:defRPr sz="825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759"/>
              <a:buNone/>
              <a:defRPr sz="825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69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21"/>
              <a:buNone/>
              <a:defRPr sz="675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35895" y="3520042"/>
            <a:ext cx="8272212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Gill Sans"/>
              <a:buNone/>
              <a:defRPr b="0" sz="1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335863" y="449794"/>
            <a:ext cx="8468144" cy="2667939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435894" y="3945096"/>
            <a:ext cx="8272213" cy="449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"/>
              </a:spcBef>
              <a:spcAft>
                <a:spcPts val="0"/>
              </a:spcAft>
              <a:buSzPts val="828"/>
              <a:buNone/>
              <a:defRPr sz="9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828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69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21"/>
              <a:buNone/>
              <a:defRPr sz="675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3250952" y="-1063056"/>
            <a:ext cx="2642096" cy="827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7467" lvl="0" marL="457200" algn="l">
              <a:spcBef>
                <a:spcPts val="27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5437310" y="1698886"/>
            <a:ext cx="3887305" cy="15031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1598645" y="-510657"/>
            <a:ext cx="3887305" cy="5922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6745255" y="4467103"/>
            <a:ext cx="9961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581193" y="4463859"/>
            <a:ext cx="5922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7834962" y="4467103"/>
            <a:ext cx="8731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435895" y="1635373"/>
            <a:ext cx="8272211" cy="2758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7918725" y="4467103"/>
            <a:ext cx="78938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Gill Sans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ill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Gill Sans"/>
              <a:buNone/>
              <a:defRPr sz="675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type="ctrTitle"/>
          </p:nvPr>
        </p:nvSpPr>
        <p:spPr>
          <a:xfrm>
            <a:off x="435894" y="765324"/>
            <a:ext cx="8245162" cy="11062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sz="27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435895" y="1871584"/>
            <a:ext cx="8245160" cy="44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 cap="none">
                <a:solidFill>
                  <a:schemeClr val="accent2"/>
                </a:solidFill>
              </a:defRPr>
            </a:lvl1pPr>
            <a:lvl2pPr lvl="1" algn="ctr">
              <a:spcBef>
                <a:spcPts val="45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50"/>
              </a:spcBef>
              <a:spcAft>
                <a:spcPts val="0"/>
              </a:spcAft>
              <a:buSzPts val="96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50"/>
              </a:spcBef>
              <a:spcAft>
                <a:spcPts val="0"/>
              </a:spcAft>
              <a:buSzPts val="82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50"/>
              </a:spcBef>
              <a:spcAft>
                <a:spcPts val="450"/>
              </a:spcAft>
              <a:buSzPts val="828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10" type="dt"/>
          </p:nvPr>
        </p:nvSpPr>
        <p:spPr>
          <a:xfrm>
            <a:off x="5704463" y="446710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7918725" y="4467103"/>
            <a:ext cx="76233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435895" y="2282933"/>
            <a:ext cx="8272211" cy="1123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b="0" sz="27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35895" y="3406063"/>
            <a:ext cx="8272211" cy="450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242"/>
              <a:buNone/>
              <a:defRPr sz="135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242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104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966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435895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435895" y="1671003"/>
            <a:ext cx="4066793" cy="2724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2" type="body"/>
          </p:nvPr>
        </p:nvSpPr>
        <p:spPr>
          <a:xfrm>
            <a:off x="4641313" y="1671003"/>
            <a:ext cx="4066794" cy="2724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>
            <p:ph type="title"/>
          </p:nvPr>
        </p:nvSpPr>
        <p:spPr>
          <a:xfrm>
            <a:off x="435895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665415" y="1688169"/>
            <a:ext cx="3815306" cy="4020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30"/>
              </a:spcBef>
              <a:spcAft>
                <a:spcPts val="0"/>
              </a:spcAft>
              <a:buSzPts val="1518"/>
              <a:buNone/>
              <a:defRPr b="0" sz="165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42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104"/>
              <a:buNone/>
              <a:defRPr b="1" sz="1200"/>
            </a:lvl9pPr>
          </a:lstStyle>
          <a:p/>
        </p:txBody>
      </p:sp>
      <p:sp>
        <p:nvSpPr>
          <p:cNvPr id="160" name="Google Shape;160;p24"/>
          <p:cNvSpPr txBox="1"/>
          <p:nvPr>
            <p:ph idx="2" type="body"/>
          </p:nvPr>
        </p:nvSpPr>
        <p:spPr>
          <a:xfrm>
            <a:off x="435896" y="2194540"/>
            <a:ext cx="4044825" cy="2201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3" type="body"/>
          </p:nvPr>
        </p:nvSpPr>
        <p:spPr>
          <a:xfrm>
            <a:off x="4892802" y="1688169"/>
            <a:ext cx="3815305" cy="4150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30"/>
              </a:spcBef>
              <a:spcAft>
                <a:spcPts val="0"/>
              </a:spcAft>
              <a:buSzPts val="1518"/>
              <a:buNone/>
              <a:defRPr b="0" sz="165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42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104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104"/>
              <a:buNone/>
              <a:defRPr b="1" sz="1200"/>
            </a:lvl9pPr>
          </a:lstStyle>
          <a:p/>
        </p:txBody>
      </p:sp>
      <p:sp>
        <p:nvSpPr>
          <p:cNvPr id="162" name="Google Shape;162;p24"/>
          <p:cNvSpPr txBox="1"/>
          <p:nvPr>
            <p:ph idx="4" type="body"/>
          </p:nvPr>
        </p:nvSpPr>
        <p:spPr>
          <a:xfrm>
            <a:off x="4663282" y="2194540"/>
            <a:ext cx="4044825" cy="2201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 txBox="1"/>
          <p:nvPr>
            <p:ph type="title"/>
          </p:nvPr>
        </p:nvSpPr>
        <p:spPr>
          <a:xfrm>
            <a:off x="435894" y="3946722"/>
            <a:ext cx="3682084" cy="51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1500"/>
              <a:buFont typeface="Gill Sans"/>
              <a:buNone/>
              <a:defRPr b="0" sz="1500"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35862" y="450900"/>
            <a:ext cx="8469630" cy="3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6230" lvl="0" marL="457200" algn="l">
              <a:spcBef>
                <a:spcPts val="300"/>
              </a:spcBef>
              <a:spcAft>
                <a:spcPts val="0"/>
              </a:spcAft>
              <a:buSzPts val="1380"/>
              <a:buChar char="◼"/>
              <a:defRPr sz="1500">
                <a:solidFill>
                  <a:schemeClr val="dk2"/>
                </a:solidFill>
              </a:defRPr>
            </a:lvl1pPr>
            <a:lvl2pPr indent="-307467" lvl="1" marL="914400" algn="l">
              <a:spcBef>
                <a:spcPts val="450"/>
              </a:spcBef>
              <a:spcAft>
                <a:spcPts val="0"/>
              </a:spcAft>
              <a:buSzPts val="1242"/>
              <a:buChar char="◼"/>
              <a:defRPr sz="1350">
                <a:solidFill>
                  <a:schemeClr val="dk2"/>
                </a:solidFill>
              </a:defRPr>
            </a:lvl2pPr>
            <a:lvl3pPr indent="-298703" lvl="2" marL="1371600" algn="l">
              <a:spcBef>
                <a:spcPts val="450"/>
              </a:spcBef>
              <a:spcAft>
                <a:spcPts val="0"/>
              </a:spcAft>
              <a:buSzPts val="1104"/>
              <a:buChar char="◼"/>
              <a:defRPr sz="1200">
                <a:solidFill>
                  <a:schemeClr val="dk2"/>
                </a:solidFill>
              </a:defRPr>
            </a:lvl3pPr>
            <a:lvl4pPr indent="-289941" lvl="3" marL="18288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4pPr>
            <a:lvl5pPr indent="-289941" lvl="4" marL="22860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5pPr>
            <a:lvl6pPr indent="-289941" lvl="5" marL="27432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6pPr>
            <a:lvl7pPr indent="-289941" lvl="6" marL="32004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7pPr>
            <a:lvl8pPr indent="-289940" lvl="7" marL="36576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8pPr>
            <a:lvl9pPr indent="-289940" lvl="8" marL="4114800" algn="l">
              <a:spcBef>
                <a:spcPts val="450"/>
              </a:spcBef>
              <a:spcAft>
                <a:spcPts val="45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25"/>
          <p:cNvSpPr txBox="1"/>
          <p:nvPr>
            <p:ph idx="2" type="body"/>
          </p:nvPr>
        </p:nvSpPr>
        <p:spPr>
          <a:xfrm>
            <a:off x="4305618" y="3946723"/>
            <a:ext cx="4402490" cy="51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65"/>
              </a:spcBef>
              <a:spcAft>
                <a:spcPts val="0"/>
              </a:spcAft>
              <a:buSzPts val="759"/>
              <a:buNone/>
              <a:defRPr sz="825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759"/>
              <a:buNone/>
              <a:defRPr sz="825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69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21"/>
              <a:buNone/>
              <a:defRPr sz="675"/>
            </a:lvl9pPr>
          </a:lstStyle>
          <a:p/>
        </p:txBody>
      </p:sp>
      <p:sp>
        <p:nvSpPr>
          <p:cNvPr id="171" name="Google Shape;171;p25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435895" y="3520042"/>
            <a:ext cx="8272212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Gill Sans"/>
              <a:buNone/>
              <a:defRPr b="0" sz="1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6"/>
          <p:cNvSpPr/>
          <p:nvPr>
            <p:ph idx="2" type="pic"/>
          </p:nvPr>
        </p:nvSpPr>
        <p:spPr>
          <a:xfrm>
            <a:off x="335863" y="449794"/>
            <a:ext cx="8468144" cy="2667939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435894" y="3945096"/>
            <a:ext cx="8272213" cy="449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"/>
              </a:spcBef>
              <a:spcAft>
                <a:spcPts val="0"/>
              </a:spcAft>
              <a:buSzPts val="828"/>
              <a:buNone/>
              <a:defRPr sz="9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828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69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21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21"/>
              <a:buNone/>
              <a:defRPr sz="675"/>
            </a:lvl9pPr>
          </a:lstStyle>
          <a:p/>
        </p:txBody>
      </p:sp>
      <p:sp>
        <p:nvSpPr>
          <p:cNvPr id="178" name="Google Shape;178;p26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 rot="5400000">
            <a:off x="3250952" y="-1063056"/>
            <a:ext cx="2642096" cy="827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7467" lvl="0" marL="457200" algn="l">
              <a:spcBef>
                <a:spcPts val="27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 txBox="1"/>
          <p:nvPr>
            <p:ph type="title"/>
          </p:nvPr>
        </p:nvSpPr>
        <p:spPr>
          <a:xfrm rot="5400000">
            <a:off x="5437310" y="1698886"/>
            <a:ext cx="3887305" cy="15031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 rot="5400000">
            <a:off x="1598645" y="-510657"/>
            <a:ext cx="3887305" cy="5922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450"/>
              </a:spcBef>
              <a:spcAft>
                <a:spcPts val="45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10" type="dt"/>
          </p:nvPr>
        </p:nvSpPr>
        <p:spPr>
          <a:xfrm>
            <a:off x="6745255" y="4467103"/>
            <a:ext cx="9961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8"/>
          <p:cNvSpPr txBox="1"/>
          <p:nvPr>
            <p:ph idx="11" type="ftr"/>
          </p:nvPr>
        </p:nvSpPr>
        <p:spPr>
          <a:xfrm>
            <a:off x="581193" y="4463859"/>
            <a:ext cx="5922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7834962" y="4467103"/>
            <a:ext cx="8731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675"/>
              <a:buFont typeface="Gill Sans"/>
              <a:buNone/>
              <a:defRPr sz="675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8" name="Google Shape;198;p29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sz="675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  <a:defRPr b="0" i="0" sz="2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7467" lvl="0" marL="457200" marR="0" rtl="0" algn="l">
              <a:spcBef>
                <a:spcPts val="27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Char char="◼"/>
              <a:defRPr b="0" i="0" sz="135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98704" lvl="1" marL="9144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89941" lvl="2" marL="13716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b="0" i="0" sz="105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81178" lvl="3" marL="18288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81178" lvl="4" marL="22860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81178" lvl="5" marL="27432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81178" lvl="6" marL="32004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81178" lvl="7" marL="36576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1178" lvl="8" marL="4114800" marR="0" rtl="0" algn="l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  <a:defRPr b="0" i="0" sz="2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7467" lvl="0" marL="457200" marR="0" rtl="0" algn="l">
              <a:spcBef>
                <a:spcPts val="27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Char char="◼"/>
              <a:defRPr b="0" i="0" sz="135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98704" lvl="1" marL="9144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89941" lvl="2" marL="13716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b="0" i="0" sz="105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81178" lvl="3" marL="18288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81178" lvl="4" marL="22860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81178" lvl="5" marL="27432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81178" lvl="6" marL="32004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81178" lvl="7" marL="3657600" marR="0" rtl="0" algn="l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1178" lvl="8" marL="4114800" marR="0" rtl="0" algn="l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0" type="dt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1" type="ftr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75"/>
              <a:buFont typeface="Gill Sans"/>
              <a:buNone/>
              <a:defRPr b="0" i="0" sz="675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ibm.com/topics/mobile-application-development" TargetMode="External"/><Relationship Id="rId4" Type="http://schemas.openxmlformats.org/officeDocument/2006/relationships/hyperlink" Target="https://en.wikipedia.org/wiki/Mobile_app_developmen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18" y="724618"/>
            <a:ext cx="1734414" cy="15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/>
          <p:nvPr/>
        </p:nvSpPr>
        <p:spPr>
          <a:xfrm>
            <a:off x="551011" y="3269512"/>
            <a:ext cx="8082625" cy="1627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Lecturer: </a:t>
            </a:r>
            <a:r>
              <a:rPr b="0" i="0" lang="en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Prof. Ossama Mohamed Badawy</a:t>
            </a:r>
            <a:endParaRPr b="0" i="0" sz="2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Eng:</a:t>
            </a:r>
            <a:r>
              <a:rPr b="0" i="0" lang="en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Rawan Mohamed. Saad Zaghloul</a:t>
            </a:r>
            <a:endParaRPr b="0" i="0" sz="2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Mahmoud Abouzeid Mohamed &amp; Hamzah Fawzy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Reg_num: </a:t>
            </a:r>
            <a:r>
              <a:rPr b="0" i="0" lang="en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211002338 &amp; 211000489</a:t>
            </a:r>
            <a:r>
              <a:rPr b="0" i="0" lang="en" sz="21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5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06" name="Google Shape;206;p30"/>
          <p:cNvSpPr txBox="1"/>
          <p:nvPr/>
        </p:nvSpPr>
        <p:spPr>
          <a:xfrm>
            <a:off x="1731977" y="483321"/>
            <a:ext cx="6661619" cy="237633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700"/>
              <a:buFont typeface="Overlock"/>
              <a:buNone/>
            </a:pPr>
            <a: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  <a:t>Arab Academy for Science &amp;Technology &amp; Maritime Transport</a:t>
            </a:r>
            <a:b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  <a:t>College of Artificial Intelligence, El Alamein</a:t>
            </a:r>
            <a:b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</a:br>
            <a:b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  <a:t>Data Science Department</a:t>
            </a:r>
            <a:b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</a:br>
            <a:b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b="0" i="0" lang="en" sz="2700" u="none" cap="none" strike="noStrike">
                <a:solidFill>
                  <a:srgbClr val="002060"/>
                </a:solidFill>
                <a:latin typeface="Overlock"/>
                <a:ea typeface="Overlock"/>
                <a:cs typeface="Overlock"/>
                <a:sym typeface="Overlock"/>
              </a:rPr>
              <a:t> GN341 Mobile Computing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" sz="3600"/>
              <a:t>OUTLINES</a:t>
            </a:r>
            <a:endParaRPr sz="3600"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435894" y="1430078"/>
            <a:ext cx="8272213" cy="3631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11974" lvl="0" marL="229500" rtl="0" algn="l">
              <a:spcBef>
                <a:spcPts val="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Project Introduction</a:t>
            </a:r>
            <a:endParaRPr/>
          </a:p>
          <a:p>
            <a:pPr indent="-211974" lvl="0" marL="229500" rtl="0" algn="l">
              <a:spcBef>
                <a:spcPts val="85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How it Works</a:t>
            </a:r>
            <a:endParaRPr/>
          </a:p>
          <a:p>
            <a:pPr indent="-211974" lvl="0" marL="229500" rtl="0" algn="l">
              <a:spcBef>
                <a:spcPts val="85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Model Performance</a:t>
            </a:r>
            <a:endParaRPr/>
          </a:p>
          <a:p>
            <a:pPr indent="-211974" lvl="0" marL="229500" rtl="0" algn="l">
              <a:spcBef>
                <a:spcPts val="85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UI Design</a:t>
            </a:r>
            <a:endParaRPr/>
          </a:p>
          <a:p>
            <a:pPr indent="-211974" lvl="0" marL="229500" rtl="0" algn="l">
              <a:spcBef>
                <a:spcPts val="85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App Development</a:t>
            </a:r>
            <a:endParaRPr/>
          </a:p>
          <a:p>
            <a:pPr indent="-211974" lvl="0" marL="229500" rtl="0" algn="l">
              <a:spcBef>
                <a:spcPts val="85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Testing</a:t>
            </a:r>
            <a:endParaRPr/>
          </a:p>
          <a:p>
            <a:pPr indent="-211974" lvl="0" marL="229500" rtl="0" algn="l">
              <a:spcBef>
                <a:spcPts val="850"/>
              </a:spcBef>
              <a:spcAft>
                <a:spcPts val="0"/>
              </a:spcAft>
              <a:buSzPct val="91999"/>
              <a:buChar char="◼"/>
            </a:pPr>
            <a:r>
              <a:rPr lang="en" sz="2000"/>
              <a:t>Deployment</a:t>
            </a:r>
            <a:endParaRPr sz="2000"/>
          </a:p>
          <a:p>
            <a:pPr indent="-220610" lvl="0" marL="229500" rtl="0" algn="l">
              <a:spcBef>
                <a:spcPts val="850"/>
              </a:spcBef>
              <a:spcAft>
                <a:spcPts val="0"/>
              </a:spcAft>
              <a:buSzPct val="100000"/>
              <a:buChar char="◼"/>
            </a:pPr>
            <a:r>
              <a:rPr lang="en" sz="2000"/>
              <a:t>Analysis</a:t>
            </a:r>
            <a:endParaRPr sz="2000"/>
          </a:p>
          <a:p>
            <a:pPr indent="-220610" lvl="0" marL="229500" rtl="0" algn="l">
              <a:spcBef>
                <a:spcPts val="850"/>
              </a:spcBef>
              <a:spcAft>
                <a:spcPts val="0"/>
              </a:spcAft>
              <a:buSzPct val="100000"/>
              <a:buChar char="◼"/>
            </a:pPr>
            <a:r>
              <a:rPr lang="en" sz="2000"/>
              <a:t>Conclusion</a:t>
            </a:r>
            <a:endParaRPr sz="2000"/>
          </a:p>
          <a:p>
            <a:pPr indent="-220609" lvl="0" marL="229500" rtl="0" algn="l">
              <a:spcBef>
                <a:spcPts val="850"/>
              </a:spcBef>
              <a:spcAft>
                <a:spcPts val="0"/>
              </a:spcAft>
              <a:buSzPct val="100000"/>
              <a:buChar char="◼"/>
            </a:pPr>
            <a:r>
              <a:rPr lang="en" sz="2000"/>
              <a:t>References</a:t>
            </a:r>
            <a:endParaRPr sz="2000"/>
          </a:p>
          <a:p>
            <a:pPr indent="-112659" lvl="0" marL="229500" rtl="0" algn="l">
              <a:spcBef>
                <a:spcPts val="85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66658"/>
              </a:buClr>
              <a:buSzPts val="2400"/>
              <a:buFont typeface="Gill Sans"/>
              <a:buNone/>
            </a:pPr>
            <a:r>
              <a:rPr lang="en" sz="3200">
                <a:solidFill>
                  <a:srgbClr val="366658"/>
                </a:solidFill>
              </a:rPr>
              <a:t>LEAF</a:t>
            </a:r>
            <a:r>
              <a:rPr lang="en" sz="3200">
                <a:solidFill>
                  <a:schemeClr val="dk1"/>
                </a:solidFill>
              </a:rPr>
              <a:t> </a:t>
            </a:r>
            <a:r>
              <a:rPr lang="en" sz="3200">
                <a:solidFill>
                  <a:srgbClr val="8CB64A"/>
                </a:solidFill>
              </a:rPr>
              <a:t>LAB</a:t>
            </a:r>
            <a:endParaRPr sz="3200">
              <a:solidFill>
                <a:srgbClr val="8CB64A"/>
              </a:solidFill>
            </a:endParaRPr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en" sz="1600"/>
              <a:t>LeafLab is an application that helps users to identify diseases in plants. It uses Deep Learning techniques (AI) to perform this. The user takes a photo of the leaf/ plant and a page for will pop up classifying the disease. Users may also access the gallery to use an existing photo and the app will predict what disease it is affected with.</a:t>
            </a:r>
            <a:endParaRPr sz="1600"/>
          </a:p>
        </p:txBody>
      </p:sp>
      <p:pic>
        <p:nvPicPr>
          <p:cNvPr descr="Portrait-oriented black smaptphone" id="219" name="Google Shape;2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0075" y="505600"/>
            <a:ext cx="1950626" cy="38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350" y="631800"/>
            <a:ext cx="1822075" cy="35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/>
          <p:nvPr/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33"/>
          <p:cNvSpPr/>
          <p:nvPr/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0" y="460804"/>
            <a:ext cx="9144000" cy="46826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331782" y="460805"/>
            <a:ext cx="2780608" cy="4208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33"/>
          <p:cNvSpPr txBox="1"/>
          <p:nvPr>
            <p:ph type="title"/>
          </p:nvPr>
        </p:nvSpPr>
        <p:spPr>
          <a:xfrm>
            <a:off x="450941" y="526617"/>
            <a:ext cx="2557337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Gill Sans"/>
              <a:buNone/>
            </a:pPr>
            <a:r>
              <a:rPr lang="en" sz="2400">
                <a:solidFill>
                  <a:schemeClr val="lt1"/>
                </a:solidFill>
              </a:rPr>
              <a:t>HOW IT WORKS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450941" y="1473126"/>
            <a:ext cx="2557336" cy="3027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rPr lang="en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First we found the correct dataset to be able to train the data to be able to create a model to predict the disease that has affected the leaf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4653" y="1352778"/>
            <a:ext cx="5273913" cy="2137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/>
          <p:nvPr/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t" dir="5400000" dist="17780">
              <a:srgbClr val="000000">
                <a:alpha val="4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9619" y="482600"/>
            <a:ext cx="5684760" cy="417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/>
          <p:nvPr/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p35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35"/>
          <p:cNvSpPr/>
          <p:nvPr/>
        </p:nvSpPr>
        <p:spPr>
          <a:xfrm>
            <a:off x="3189654" y="550600"/>
            <a:ext cx="5623962" cy="42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p35"/>
          <p:cNvSpPr txBox="1"/>
          <p:nvPr>
            <p:ph type="title"/>
          </p:nvPr>
        </p:nvSpPr>
        <p:spPr>
          <a:xfrm>
            <a:off x="3434432" y="1064418"/>
            <a:ext cx="5098956" cy="15644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/>
              <a:buNone/>
            </a:pPr>
            <a:r>
              <a:rPr lang="en" sz="3600">
                <a:solidFill>
                  <a:srgbClr val="FFFFFF"/>
                </a:solidFill>
              </a:rPr>
              <a:t>CLASSES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434432" y="2628821"/>
            <a:ext cx="5098956" cy="1300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600"/>
              </a:spcAft>
              <a:buSzPts val="1472"/>
              <a:buNone/>
            </a:pPr>
            <a:r>
              <a:rPr b="1" lang="en" sz="1600" cap="none">
                <a:solidFill>
                  <a:schemeClr val="lt2"/>
                </a:solidFill>
              </a:rPr>
              <a:t>WE HAD A TOTAL OF 38 CLASSES MEANING THERE ARE 38 DISEASES THAT CAN AFFECT THE PLANT</a:t>
            </a:r>
            <a:endParaRPr sz="1600" cap="none">
              <a:solidFill>
                <a:schemeClr val="lt2"/>
              </a:solidFill>
            </a:endParaRPr>
          </a:p>
        </p:txBody>
      </p:sp>
      <p:grpSp>
        <p:nvGrpSpPr>
          <p:cNvPr id="256" name="Google Shape;256;p35"/>
          <p:cNvGrpSpPr/>
          <p:nvPr/>
        </p:nvGrpSpPr>
        <p:grpSpPr>
          <a:xfrm>
            <a:off x="334900" y="340232"/>
            <a:ext cx="8474200" cy="73915"/>
            <a:chOff x="446534" y="453643"/>
            <a:chExt cx="11298933" cy="98554"/>
          </a:xfrm>
        </p:grpSpPr>
        <p:sp>
          <p:nvSpPr>
            <p:cNvPr id="257" name="Google Shape;257;p35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8" name="Google Shape;258;p35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9" name="Google Shape;259;p35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260" name="Google Shape;260;p35"/>
          <p:cNvPicPr preferRelativeResize="0"/>
          <p:nvPr/>
        </p:nvPicPr>
        <p:blipFill rotWithShape="1">
          <a:blip r:embed="rId3">
            <a:alphaModFix/>
          </a:blip>
          <a:srcRect b="-2" l="0" r="14616" t="0"/>
          <a:stretch/>
        </p:blipFill>
        <p:spPr>
          <a:xfrm>
            <a:off x="358629" y="542924"/>
            <a:ext cx="2753760" cy="425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3225" y="542260"/>
            <a:ext cx="5995680" cy="4448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/>
          <p:nvPr/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1" name="Google Shape;271;p37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2" name="Google Shape;272;p37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p37"/>
          <p:cNvSpPr/>
          <p:nvPr/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0" y="411480"/>
            <a:ext cx="9143999" cy="47320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331782" y="478630"/>
            <a:ext cx="2778993" cy="43219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37"/>
          <p:cNvSpPr txBox="1"/>
          <p:nvPr>
            <p:ph type="title"/>
          </p:nvPr>
        </p:nvSpPr>
        <p:spPr>
          <a:xfrm>
            <a:off x="602391" y="906888"/>
            <a:ext cx="2316892" cy="3550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" sz="2400"/>
              <a:t>MODEL PERFORMANCE</a:t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37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0" name="Google Shape;2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9892" y="490666"/>
            <a:ext cx="2724901" cy="179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/>
          <p:nvPr/>
        </p:nvSpPr>
        <p:spPr>
          <a:xfrm>
            <a:off x="3173942" y="490666"/>
            <a:ext cx="2777158" cy="1828383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2" name="Google Shape;28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9185" y="554462"/>
            <a:ext cx="2733145" cy="172622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/>
          <p:nvPr/>
        </p:nvSpPr>
        <p:spPr>
          <a:xfrm>
            <a:off x="6027179" y="490666"/>
            <a:ext cx="2777158" cy="1828383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37"/>
          <p:cNvSpPr txBox="1"/>
          <p:nvPr>
            <p:ph idx="4294967295" type="body"/>
          </p:nvPr>
        </p:nvSpPr>
        <p:spPr>
          <a:xfrm>
            <a:off x="3421402" y="2568971"/>
            <a:ext cx="5148116" cy="2100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60"/>
              </a:spcBef>
              <a:spcAft>
                <a:spcPts val="0"/>
              </a:spcAft>
              <a:buSzPts val="1196"/>
              <a:buNone/>
            </a:pPr>
            <a:r>
              <a:rPr lang="en"/>
              <a:t>After building the model we then analysed to make sure it gives us the best accuracy it can</a:t>
            </a:r>
            <a:endParaRPr/>
          </a:p>
          <a:p>
            <a:pPr indent="0" lvl="0" marL="0" rtl="0" algn="l">
              <a:spcBef>
                <a:spcPts val="870"/>
              </a:spcBef>
              <a:spcAft>
                <a:spcPts val="600"/>
              </a:spcAft>
              <a:buSzPts val="124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8000" y="109350"/>
            <a:ext cx="599568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UI DESIGN GENERALISED</a:t>
            </a:r>
            <a:endParaRPr/>
          </a:p>
        </p:txBody>
      </p:sp>
      <p:pic>
        <p:nvPicPr>
          <p:cNvPr id="295" name="Google Shape;29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586" y="1540163"/>
            <a:ext cx="4073390" cy="325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449" y="1540163"/>
            <a:ext cx="3592684" cy="3367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UI DESIGN</a:t>
            </a:r>
            <a:endParaRPr/>
          </a:p>
        </p:txBody>
      </p:sp>
      <p:pic>
        <p:nvPicPr>
          <p:cNvPr id="302" name="Google Shape;302;p40"/>
          <p:cNvPicPr preferRelativeResize="0"/>
          <p:nvPr/>
        </p:nvPicPr>
        <p:blipFill rotWithShape="1">
          <a:blip r:embed="rId3">
            <a:alphaModFix/>
          </a:blip>
          <a:srcRect b="0" l="0" r="0" t="1652"/>
          <a:stretch/>
        </p:blipFill>
        <p:spPr>
          <a:xfrm>
            <a:off x="726300" y="1509823"/>
            <a:ext cx="2111025" cy="338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6950" y="1509823"/>
            <a:ext cx="2111025" cy="338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0"/>
          <p:cNvPicPr preferRelativeResize="0"/>
          <p:nvPr/>
        </p:nvPicPr>
        <p:blipFill rotWithShape="1">
          <a:blip r:embed="rId5">
            <a:alphaModFix/>
          </a:blip>
          <a:srcRect b="0" l="0" r="0" t="900"/>
          <a:stretch/>
        </p:blipFill>
        <p:spPr>
          <a:xfrm>
            <a:off x="3253513" y="1509822"/>
            <a:ext cx="1782013" cy="3380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UI DESIGN</a:t>
            </a:r>
            <a:endParaRPr/>
          </a:p>
        </p:txBody>
      </p:sp>
      <p:pic>
        <p:nvPicPr>
          <p:cNvPr id="310" name="Google Shape;31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411" y="1663157"/>
            <a:ext cx="1376400" cy="293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4971" y="1663157"/>
            <a:ext cx="1349451" cy="282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1906" y="1608609"/>
            <a:ext cx="1502675" cy="293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6747" y="1608608"/>
            <a:ext cx="1502676" cy="2933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41"/>
          <p:cNvCxnSpPr>
            <a:endCxn id="311" idx="1"/>
          </p:cNvCxnSpPr>
          <p:nvPr/>
        </p:nvCxnSpPr>
        <p:spPr>
          <a:xfrm>
            <a:off x="1301671" y="3075159"/>
            <a:ext cx="1143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UI DESIGN</a:t>
            </a:r>
            <a:endParaRPr/>
          </a:p>
        </p:txBody>
      </p:sp>
      <p:pic>
        <p:nvPicPr>
          <p:cNvPr id="320" name="Google Shape;320;p42"/>
          <p:cNvPicPr preferRelativeResize="0"/>
          <p:nvPr/>
        </p:nvPicPr>
        <p:blipFill rotWithShape="1">
          <a:blip r:embed="rId3">
            <a:alphaModFix/>
          </a:blip>
          <a:srcRect b="0" l="0" r="2486" t="0"/>
          <a:stretch/>
        </p:blipFill>
        <p:spPr>
          <a:xfrm>
            <a:off x="600490" y="1544723"/>
            <a:ext cx="1465250" cy="3047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2284" y="1544722"/>
            <a:ext cx="1841675" cy="3047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8827" y="1544722"/>
            <a:ext cx="1686325" cy="30477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2"/>
          <p:cNvCxnSpPr>
            <a:stCxn id="320" idx="3"/>
            <a:endCxn id="321" idx="1"/>
          </p:cNvCxnSpPr>
          <p:nvPr/>
        </p:nvCxnSpPr>
        <p:spPr>
          <a:xfrm>
            <a:off x="2065740" y="3068587"/>
            <a:ext cx="10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431921" y="547244"/>
            <a:ext cx="8272212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UI DESIGN</a:t>
            </a:r>
            <a:endParaRPr/>
          </a:p>
        </p:txBody>
      </p:sp>
      <p:pic>
        <p:nvPicPr>
          <p:cNvPr id="329" name="Google Shape;3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484" y="1499191"/>
            <a:ext cx="1960049" cy="335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0758" y="1499191"/>
            <a:ext cx="1799007" cy="3442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665" y="1544381"/>
            <a:ext cx="1807874" cy="3269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/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APP DEVELOPMENT</a:t>
            </a:r>
            <a:endParaRPr/>
          </a:p>
        </p:txBody>
      </p:sp>
      <p:sp>
        <p:nvSpPr>
          <p:cNvPr id="337" name="Google Shape;337;p44"/>
          <p:cNvSpPr txBox="1"/>
          <p:nvPr>
            <p:ph idx="1" type="body"/>
          </p:nvPr>
        </p:nvSpPr>
        <p:spPr>
          <a:xfrm>
            <a:off x="435895" y="1635373"/>
            <a:ext cx="8272211" cy="27587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96"/>
              <a:buNone/>
            </a:pPr>
            <a:r>
              <a:rPr lang="en"/>
              <a:t>Types of backend services: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42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Firebase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SzPts val="1242"/>
              <a:buNone/>
            </a:pPr>
            <a:r>
              <a:t/>
            </a:r>
            <a:endParaRPr/>
          </a:p>
        </p:txBody>
      </p:sp>
      <p:sp>
        <p:nvSpPr>
          <p:cNvPr id="338" name="Google Shape;338;p44"/>
          <p:cNvSpPr txBox="1"/>
          <p:nvPr>
            <p:ph idx="4294967295" type="body"/>
          </p:nvPr>
        </p:nvSpPr>
        <p:spPr>
          <a:xfrm>
            <a:off x="5561013" y="1468438"/>
            <a:ext cx="3582987" cy="3100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96"/>
              <a:buNone/>
            </a:pPr>
            <a:r>
              <a:rPr lang="en"/>
              <a:t>Types of Frontend: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Camera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Gallery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SzPts val="124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4" name="Google Shape;344;p45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45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6" name="Google Shape;346;p45"/>
          <p:cNvSpPr/>
          <p:nvPr/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7" name="Google Shape;347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8" name="Google Shape;348;p45"/>
          <p:cNvSpPr/>
          <p:nvPr/>
        </p:nvSpPr>
        <p:spPr>
          <a:xfrm>
            <a:off x="367935" y="364258"/>
            <a:ext cx="3131058" cy="4416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9" name="Google Shape;349;p45"/>
          <p:cNvSpPr txBox="1"/>
          <p:nvPr>
            <p:ph idx="4294967295" type="title"/>
          </p:nvPr>
        </p:nvSpPr>
        <p:spPr>
          <a:xfrm>
            <a:off x="719367" y="835323"/>
            <a:ext cx="2452312" cy="346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/>
              <a:buNone/>
            </a:pPr>
            <a:r>
              <a:rPr lang="en" sz="2400">
                <a:solidFill>
                  <a:srgbClr val="FFFFFF"/>
                </a:solidFill>
              </a:rPr>
              <a:t>TESTING METHODS</a:t>
            </a:r>
            <a:endParaRPr/>
          </a:p>
        </p:txBody>
      </p:sp>
      <p:sp>
        <p:nvSpPr>
          <p:cNvPr id="350" name="Google Shape;350;p45"/>
          <p:cNvSpPr txBox="1"/>
          <p:nvPr/>
        </p:nvSpPr>
        <p:spPr>
          <a:xfrm>
            <a:off x="3866928" y="835323"/>
            <a:ext cx="4581135" cy="346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rPr lang="en"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We will release a beta version for the application for users to test. We will also use a security team to help testing for vulnerabilities and how to prevent it. Lastly Functional testing to test all functions that are capable and suitable to work for this app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5400"/>
              <a:buFont typeface="Gill Sans"/>
              <a:buNone/>
            </a:pPr>
            <a:r>
              <a:rPr lang="en">
                <a:solidFill>
                  <a:srgbClr val="8CB64A"/>
                </a:solidFill>
              </a:rPr>
              <a:t>DEPLOYMENT:</a:t>
            </a:r>
            <a:endParaRPr>
              <a:solidFill>
                <a:srgbClr val="8CB64A"/>
              </a:solidFill>
            </a:endParaRPr>
          </a:p>
        </p:txBody>
      </p:sp>
      <p:sp>
        <p:nvSpPr>
          <p:cNvPr id="356" name="Google Shape;356;p46"/>
          <p:cNvSpPr txBox="1"/>
          <p:nvPr/>
        </p:nvSpPr>
        <p:spPr>
          <a:xfrm>
            <a:off x="5781975" y="528900"/>
            <a:ext cx="28335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App Store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7" name="Google Shape;357;p46"/>
          <p:cNvSpPr txBox="1"/>
          <p:nvPr/>
        </p:nvSpPr>
        <p:spPr>
          <a:xfrm>
            <a:off x="5781975" y="2496425"/>
            <a:ext cx="2568300" cy="21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Play Store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58" name="Google Shape;358;p46" title="File:App Store macOS.png - Wikimedia Common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38150"/>
            <a:ext cx="1558275" cy="15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6" title="File:Google Play Store (2012-2014).svg - Wikipedia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2325" y="2883900"/>
            <a:ext cx="2907600" cy="21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5" name="Google Shape;365;p47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6" name="Google Shape;366;p47"/>
          <p:cNvSpPr/>
          <p:nvPr/>
        </p:nvSpPr>
        <p:spPr>
          <a:xfrm>
            <a:off x="3181372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7" name="Google Shape;367;p47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8" name="Google Shape;368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9" name="Google Shape;369;p47"/>
          <p:cNvSpPr/>
          <p:nvPr/>
        </p:nvSpPr>
        <p:spPr>
          <a:xfrm>
            <a:off x="367935" y="364258"/>
            <a:ext cx="3131100" cy="441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0" name="Google Shape;370;p47"/>
          <p:cNvSpPr txBox="1"/>
          <p:nvPr>
            <p:ph idx="4294967295" type="title"/>
          </p:nvPr>
        </p:nvSpPr>
        <p:spPr>
          <a:xfrm>
            <a:off x="719367" y="835323"/>
            <a:ext cx="24522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/>
              <a:buNone/>
            </a:pPr>
            <a:r>
              <a:rPr lang="en" sz="2400">
                <a:solidFill>
                  <a:srgbClr val="FFFFFF"/>
                </a:solidFill>
              </a:rPr>
              <a:t>Analysis</a:t>
            </a:r>
            <a:endParaRPr/>
          </a:p>
        </p:txBody>
      </p:sp>
      <p:sp>
        <p:nvSpPr>
          <p:cNvPr id="371" name="Google Shape;371;p47"/>
          <p:cNvSpPr txBox="1"/>
          <p:nvPr/>
        </p:nvSpPr>
        <p:spPr>
          <a:xfrm>
            <a:off x="3866928" y="835323"/>
            <a:ext cx="45810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rPr lang="en"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This application  will be used across the world for users that may encounter an issue with plants or leaves with a disease that maybe unknown to the user.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7" name="Google Shape;377;p48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3181372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0" name="Google Shape;380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1" name="Google Shape;381;p48"/>
          <p:cNvSpPr/>
          <p:nvPr/>
        </p:nvSpPr>
        <p:spPr>
          <a:xfrm>
            <a:off x="367935" y="364258"/>
            <a:ext cx="3131100" cy="441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2" name="Google Shape;382;p48"/>
          <p:cNvSpPr txBox="1"/>
          <p:nvPr>
            <p:ph idx="4294967295" type="title"/>
          </p:nvPr>
        </p:nvSpPr>
        <p:spPr>
          <a:xfrm>
            <a:off x="719367" y="835323"/>
            <a:ext cx="24522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/>
              <a:buNone/>
            </a:pPr>
            <a:r>
              <a:rPr lang="en" sz="2400">
                <a:solidFill>
                  <a:srgbClr val="FFFFFF"/>
                </a:solidFill>
              </a:rPr>
              <a:t>Conclusion</a:t>
            </a:r>
            <a:endParaRPr/>
          </a:p>
        </p:txBody>
      </p:sp>
      <p:sp>
        <p:nvSpPr>
          <p:cNvPr id="383" name="Google Shape;383;p48"/>
          <p:cNvSpPr txBox="1"/>
          <p:nvPr/>
        </p:nvSpPr>
        <p:spPr>
          <a:xfrm>
            <a:off x="3866928" y="835323"/>
            <a:ext cx="45810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rPr lang="en"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With the vast improvement of AI in the last few years, luckily, we were able to implement an app that is able to detect diseases from just a photo!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66658"/>
              </a:buClr>
              <a:buSzPts val="3000"/>
              <a:buFont typeface="Gill Sans"/>
              <a:buNone/>
            </a:pPr>
            <a:r>
              <a:rPr lang="en">
                <a:solidFill>
                  <a:srgbClr val="366658"/>
                </a:solidFill>
              </a:rPr>
              <a:t>REFERENCES</a:t>
            </a:r>
            <a:endParaRPr>
              <a:solidFill>
                <a:srgbClr val="366658"/>
              </a:solidFill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https://www.ibm.com/topics/mobile-application-development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https://en.wikipedia.org/wiki/Mobile_app_development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https://developer.android.com/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/>
          <p:nvPr/>
        </p:nvSpPr>
        <p:spPr>
          <a:xfrm>
            <a:off x="1137683" y="1971585"/>
            <a:ext cx="71610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66658"/>
                </a:solidFill>
                <a:latin typeface="Gill Sans"/>
                <a:ea typeface="Gill Sans"/>
                <a:cs typeface="Gill Sans"/>
                <a:sym typeface="Gill Sans"/>
              </a:rPr>
              <a:t>Thank</a:t>
            </a:r>
            <a:r>
              <a:rPr lang="en" sz="7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7200">
                <a:solidFill>
                  <a:srgbClr val="8CB64A"/>
                </a:solidFill>
                <a:latin typeface="Gill Sans"/>
                <a:ea typeface="Gill Sans"/>
                <a:cs typeface="Gill Sans"/>
                <a:sym typeface="Gill Sans"/>
              </a:rPr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